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31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DMS VEHICLE DATA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GUIDE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2331720"/>
            <a:ext cx="45720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6888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procedure to log in, search a vehicle by Chassis No.,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Service Information and Customer Contact details from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Motors PV CRM DMS System.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85089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  |  Jaipur  |  TMPC-Ser-N3-RJ-3000840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 Tata Motors CRM DMS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5089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  |  Tata Motors Authorised Dealer  |  Jaipur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5669280" cy="356616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005840"/>
            <a:ext cx="566928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carsdms.inservices.tatamotors.com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MOTORS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Aspirations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Tata Motors PV CRM DMS System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2514600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8163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3044952"/>
            <a:ext cx="14630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6552" y="3044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●●●●●●●●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401568"/>
            <a:ext cx="914400" cy="274320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4015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423160"/>
            <a:ext cx="2560320" cy="3200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Enter your User ID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0" y="2926080"/>
            <a:ext cx="2560320" cy="3200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Enter your Password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3429000"/>
            <a:ext cx="2560320" cy="32004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Click Login button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52160" y="2651760"/>
            <a:ext cx="530352" cy="0"/>
          </a:xfrm>
          <a:prstGeom prst="line">
            <a:avLst/>
          </a:prstGeom>
          <a:noFill/>
          <a:ln w="19050">
            <a:solidFill>
              <a:srgbClr val="003DA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0" y="3172968"/>
            <a:ext cx="530352" cy="0"/>
          </a:xfrm>
          <a:prstGeom prst="line">
            <a:avLst/>
          </a:prstGeom>
          <a:noFill/>
          <a:ln w="19050">
            <a:solidFill>
              <a:srgbClr val="003D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3538728"/>
            <a:ext cx="530352" cy="0"/>
          </a:xfrm>
          <a:prstGeom prst="line">
            <a:avLst/>
          </a:prstGeom>
          <a:noFill/>
          <a:ln w="19050">
            <a:solidFill>
              <a:srgbClr val="003D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Login is done only ONCE per session. The session stays active for all chassis lookups.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After Login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5089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  |  Tata Motors Authorised Dealer  |  Jaipur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8595360" cy="41148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eLearning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53312" y="960120"/>
            <a:ext cx="1005840" cy="411480"/>
          </a:xfrm>
          <a:prstGeom prst="rect">
            <a:avLst/>
          </a:prstGeom>
          <a:solidFill>
            <a:srgbClr val="003DA5"/>
          </a:solidFill>
          <a:ln/>
        </p:spPr>
      </p:sp>
      <p:sp>
        <p:nvSpPr>
          <p:cNvPr id="13" name="Text 11"/>
          <p:cNvSpPr/>
          <p:nvPr/>
        </p:nvSpPr>
        <p:spPr>
          <a:xfrm>
            <a:off x="1399032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478024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557016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36008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715000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793992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History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872984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Alerts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1463040"/>
            <a:ext cx="8595360" cy="256032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554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 DEEPAK SHARMA of FIRST MOBITAL PVT. LTD.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1920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last accessed on 06/16/2026 17:40:52.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You are now logged in. Proceed to click the Vehicles tab.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Vehicles Module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5089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  |  Tata Motors Authorised Dealer  |  Jaipur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960120"/>
            <a:ext cx="8595360" cy="41148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eLearning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99032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478024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557016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36008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669280" y="960120"/>
            <a:ext cx="1005840" cy="411480"/>
          </a:xfrm>
          <a:prstGeom prst="rect">
            <a:avLst/>
          </a:prstGeom>
          <a:solidFill>
            <a:srgbClr val="003DA5"/>
          </a:solidFill>
          <a:ln/>
        </p:spPr>
      </p:sp>
      <p:sp>
        <p:nvSpPr>
          <p:cNvPr id="17" name="Text 15"/>
          <p:cNvSpPr/>
          <p:nvPr/>
        </p:nvSpPr>
        <p:spPr>
          <a:xfrm>
            <a:off x="5715000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793992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History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872984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Alerts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291072" y="914400"/>
            <a:ext cx="1005840" cy="502920"/>
          </a:xfrm>
          <a:prstGeom prst="rect">
            <a:avLst/>
          </a:prstGeom>
          <a:ln w="38100">
            <a:solidFill>
              <a:srgbClr val="C53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1572768"/>
            <a:ext cx="6858000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" y="1572768"/>
            <a:ext cx="6675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Click "Vehicles" in the top navigation bar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057400"/>
            <a:ext cx="8595360" cy="210312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Vehicles list will open showing "My Dealership's Vehicles" by default.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columns: Chassis No., Booking Ref No, Registration Number, Engine No., Product/VC#, Product Line, Owner Account Name, etc.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Next step: change the view filter from "My Dealership's Vehicles" to "All Visible Vehicles"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"All Visible Vehicles" 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5089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  |  Tata Motors Authorised Dealer  |  Jaipur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058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Dealership's Vehicles  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353312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716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My Dealership's Vehicles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700784"/>
            <a:ext cx="3200400" cy="320040"/>
          </a:xfrm>
          <a:prstGeom prst="rect">
            <a:avLst/>
          </a:prstGeom>
          <a:solidFill>
            <a:srgbClr val="003DA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7007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Visible Vehicles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960120"/>
            <a:ext cx="3291840" cy="411480"/>
          </a:xfrm>
          <a:prstGeom prst="rect">
            <a:avLst/>
          </a:prstGeom>
          <a:ln w="38100">
            <a:solidFill>
              <a:srgbClr val="C530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069848"/>
            <a:ext cx="5029200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0208" y="106984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Click the dropdown at top-left of the Vehicles list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40480" y="1572768"/>
            <a:ext cx="5029200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0208" y="157276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Select "All Visible Vehicles" from the dropdown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468880"/>
            <a:ext cx="8412480" cy="164592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60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"All Visible Vehicles"?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2880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view "My Dealership's Vehicles" only shows vehicles registered at your dealership.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Visible Vehicles" allows you to search any chassis number that has ever been serviced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registered in the Tata Motors network.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 selecting, a full vehicle search form will appear with Fetch RC and Fetch EW Invoice buttons.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"All Visible Vehicles" — Vehicle Form Opens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5089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  |  Tata Motors Authorised Dealer  |  Jaipur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8595360" cy="310896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097280"/>
            <a:ext cx="914400" cy="292608"/>
          </a:xfrm>
          <a:prstGeom prst="rect">
            <a:avLst/>
          </a:prstGeom>
          <a:solidFill>
            <a:srgbClr val="003DA5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0972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RC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17320" y="1097280"/>
            <a:ext cx="1188720" cy="292608"/>
          </a:xfrm>
          <a:prstGeom prst="rect">
            <a:avLst/>
          </a:prstGeom>
          <a:solidFill>
            <a:srgbClr val="003DA5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10972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EW Invoice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Information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Information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Details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18745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No: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17320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417320" y="1892808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8745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Service Km: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97680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97680" y="1892808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72200" y="187452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No: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78040" y="18745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78040" y="1892808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18541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417320" y="21854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17320" y="2203704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18541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Service Dealer: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97680" y="21854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297680" y="2203704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18541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No: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78040" y="21854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178040" y="2203704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49631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17320" y="24963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417320" y="2514600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249631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Service Date: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297680" y="24963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97680" y="2514600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2496312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Make (FR):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78040" y="249631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178040" y="2514600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072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Invoice Date: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417320" y="28072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417320" y="2825496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28072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Service Date: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297680" y="28072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297680" y="2825496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2807208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# (FR):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178040" y="280720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178040" y="2825496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1181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Date: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417320" y="311810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417320" y="3136392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0" y="31181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Service Type: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97680" y="311810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297680" y="3136392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72200" y="3118104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Transaxle No: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178040" y="311810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178040" y="3136392"/>
            <a:ext cx="1691640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All fields are empty — you must search by Chassis No. to populate the form (Step 6→8)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Search (Query) Button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5089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  |  Tata Motors Authorised Dealer  |  Jaipur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005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1005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✎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3856" y="1005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17904" y="1005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01952" y="1005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1005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0048" y="1005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960120"/>
            <a:ext cx="393192" cy="548640"/>
          </a:xfrm>
          <a:prstGeom prst="rect">
            <a:avLst/>
          </a:prstGeom>
          <a:ln w="38100">
            <a:solidFill>
              <a:srgbClr val="C53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1143000"/>
            <a:ext cx="7132320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47088" y="11430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Click the magnifying glass (🔍) Search/Query icon in the toolbar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691640"/>
            <a:ext cx="8595360" cy="237744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783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click Search: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002B5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1762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21945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fields become editable (white background with borders)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560320"/>
            <a:ext cx="292608" cy="292608"/>
          </a:xfrm>
          <a:prstGeom prst="ellipse">
            <a:avLst/>
          </a:prstGeom>
          <a:solidFill>
            <a:srgbClr val="002B5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5603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257860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"Vehicles:Go" button appears at the top right of the form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944368"/>
            <a:ext cx="292608" cy="292608"/>
          </a:xfrm>
          <a:prstGeom prst="ellipse">
            <a:avLst/>
          </a:prstGeom>
          <a:solidFill>
            <a:srgbClr val="002B5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944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296265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navigation arrows appear (cancel, go back, execute query)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328416"/>
            <a:ext cx="292608" cy="292608"/>
          </a:xfrm>
          <a:prstGeom prst="ellipse">
            <a:avLst/>
          </a:prstGeom>
          <a:solidFill>
            <a:srgbClr val="002B5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3284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334670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type your Chassis Number in the "Chassis No:" field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search form is now active. Proceed to Step 7 — Enter Chassis Number.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Chassis Number in Search 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5089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  |  Tata Motors Authorised Dealer  |  Jaipur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8595360" cy="310896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0" y="1051560"/>
            <a:ext cx="640080" cy="320040"/>
          </a:xfrm>
          <a:prstGeom prst="rect">
            <a:avLst/>
          </a:prstGeom>
          <a:solidFill>
            <a:srgbClr val="003DA5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0515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No: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83080" y="1527048"/>
            <a:ext cx="2286000" cy="274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B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5270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MAT624026ELJ202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1920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Registration Number: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920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No.: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737360" y="1481328"/>
            <a:ext cx="2377440" cy="384048"/>
          </a:xfrm>
          <a:prstGeom prst="rect">
            <a:avLst/>
          </a:prstGeom>
          <a:ln w="38100">
            <a:solidFill>
              <a:srgbClr val="C530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1527048"/>
            <a:ext cx="4663440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152704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Type or paste the Chassis No. in the "Chassis No:" field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26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Notes: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Chassis numbers are case-sensitive — enter in UPPERCASE (e.g., MAT624026ELJ202)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 NOT add any spaces before or after the chassis number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system pulls all details automatically once the chassis is found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After typing, press Enter OR click the Go → button (top right)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Search — Press Go Arrow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5089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  |  Tata Motors Authorised Dealer  |  Jaipur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8595360" cy="438912"/>
          </a:xfrm>
          <a:prstGeom prst="rect">
            <a:avLst/>
          </a:prstGeom>
          <a:solidFill>
            <a:srgbClr val="E2E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1060704"/>
            <a:ext cx="329184" cy="329184"/>
          </a:xfrm>
          <a:prstGeom prst="ellipse">
            <a:avLst/>
          </a:prstGeom>
          <a:solidFill>
            <a:srgbClr val="003DA5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10607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1005840"/>
            <a:ext cx="420624" cy="438912"/>
          </a:xfrm>
          <a:prstGeom prst="rect">
            <a:avLst/>
          </a:prstGeom>
          <a:ln w="38100">
            <a:solidFill>
              <a:srgbClr val="C530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1115568"/>
            <a:ext cx="6035040" cy="347472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38528" y="111556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Click this blue Go (→) arrow to execute the search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627632"/>
            <a:ext cx="8595360" cy="246888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190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Information loaded: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0574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Chassis No: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874520" y="20574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MAT624026ELJ202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0" y="205740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Service Km: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715000" y="20574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105,449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23865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Number: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74520" y="23865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RJ14CU8495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0" y="238658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Service Dealer: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15000" y="23865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27157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874520" y="27157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54220224AIJR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0" y="2715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Service Date: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15000" y="27157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31/03/2026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30449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874520" y="30449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0" y="30449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Service Date: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715000" y="304495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25/02/2026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33741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Invoice Date: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874520" y="33741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15/09/2014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0" y="33741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Service Type: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15000" y="337413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Service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Vehicle details are now populated. Proceed to scrape Service Information.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Service Information Fields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&amp; 10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5089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  |  Tata Motors Authorised Dealer  |  Jaipur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Information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463040"/>
            <a:ext cx="85953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146304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Registration Number: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60320" y="146304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RJ14CU8495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146304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Service Km: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766560" y="146304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105,449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819656"/>
            <a:ext cx="8595360" cy="338328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181965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Invoice Number: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60320" y="1819656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RoshanM-1415-001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0" y="1819656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Service Dealer: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819656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176272"/>
            <a:ext cx="85953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176272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Invoice#: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60320" y="2176272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0711281035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00" y="2176272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Service Division: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66560" y="2176272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3000840-Sv&amp;Pa-Jai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532888"/>
            <a:ext cx="8595360" cy="338328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2532888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Invoice Date: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60320" y="2532888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15/09/2014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0" y="2532888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Service Date: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66560" y="2532888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31/03/2026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2889504"/>
            <a:ext cx="85953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2889504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Date: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60320" y="2889504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27/09/2014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0" y="2889504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Service Date: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66560" y="2889504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25/02/2026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3246120"/>
            <a:ext cx="8595360" cy="338328"/>
          </a:xfrm>
          <a:prstGeom prst="rect">
            <a:avLst/>
          </a:prstGeom>
          <a:solidFill>
            <a:srgbClr val="F2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24612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Resale Odometer Reading: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560320" y="3246120"/>
            <a:ext cx="18288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105,449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0" y="3246120"/>
            <a:ext cx="21031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Service Type: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766560" y="3246120"/>
            <a:ext cx="19202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Service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6032" y="987552"/>
            <a:ext cx="8631936" cy="2157984"/>
          </a:xfrm>
          <a:prstGeom prst="rect">
            <a:avLst/>
          </a:prstGeom>
          <a:ln w="38100">
            <a:solidFill>
              <a:srgbClr val="C530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Extract ALL fields shown above from the Service Information section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Customer Contact Details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/ 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" y="485089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  |  Tata Motors Authorised Dealer  |  Jaipur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005840"/>
            <a:ext cx="1051560" cy="3657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" y="1005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389888" y="1005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Requests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2487168" y="1005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3584448" y="1005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History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4681728" y="1005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CheckSheet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79008" y="1005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Contract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876288" y="1005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History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7973568" y="100584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256032" y="978408"/>
            <a:ext cx="1097280" cy="420624"/>
          </a:xfrm>
          <a:prstGeom prst="rect">
            <a:avLst/>
          </a:prstGeom>
          <a:ln w="38100">
            <a:solidFill>
              <a:srgbClr val="C53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1508760"/>
            <a:ext cx="8595360" cy="347472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1508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54680" y="1508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Phone No.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40680" y="15087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69480" y="15087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Status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1874520"/>
            <a:ext cx="8595360" cy="384048"/>
          </a:xfrm>
          <a:prstGeom prst="rect">
            <a:avLst/>
          </a:prstGeom>
          <a:solidFill>
            <a:srgbClr val="EBF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18745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154680" y="1874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8854800005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40680" y="1874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27/09/2014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69480" y="18745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1856232"/>
            <a:ext cx="8631936" cy="420624"/>
          </a:xfrm>
          <a:prstGeom prst="rect">
            <a:avLst/>
          </a:prstGeom>
          <a:ln w="31750">
            <a:solidFill>
              <a:srgbClr val="2767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286000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154680" y="22860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8233000010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40680" y="22860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23/09/2014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69480" y="22860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697480"/>
            <a:ext cx="8595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697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DALPAT SINGH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154680" y="26974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9982253538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40680" y="26974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25/02/2025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69480" y="26974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74320" y="3154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ONLY rows where Contact Status = "Customer"  →  First Name + Cell Phone No.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434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SANJAY  |  8854800005  ← This is the only Customer contact to capture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2B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46304" cy="8229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Process Summary &amp; Automation Loop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4850892"/>
            <a:ext cx="877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MOBITAL PVT. LTD.  |  Tata Motors Authorised Dealer  |  Jaipur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1828800" cy="914400"/>
          </a:xfrm>
          <a:prstGeom prst="rect">
            <a:avLst/>
          </a:prstGeom>
          <a:solidFill>
            <a:srgbClr val="002B5C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24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13990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Once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(CRM credentials)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40280" y="1508760"/>
            <a:ext cx="27432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051560"/>
            <a:ext cx="1828800" cy="91440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124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06040" y="13990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Vehicles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Visible Vehicles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34840" y="1508760"/>
            <a:ext cx="27432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51560"/>
            <a:ext cx="1828800" cy="91440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124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13990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Search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(magnifying glass)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29400" y="1508760"/>
            <a:ext cx="27432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051560"/>
            <a:ext cx="1828800" cy="91440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1247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13990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Chassis No.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Go →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2514600"/>
            <a:ext cx="1828800" cy="91440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5877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" y="286207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Service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40280" y="2971800"/>
            <a:ext cx="27432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0" y="2514600"/>
            <a:ext cx="1828800" cy="91440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25877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2606040" y="286207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Contacts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(Customer only)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34840" y="2971800"/>
            <a:ext cx="27432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2514600"/>
            <a:ext cx="1828800" cy="914400"/>
          </a:xfrm>
          <a:prstGeom prst="rect">
            <a:avLst/>
          </a:prstGeom>
          <a:solidFill>
            <a:srgbClr val="003DA5"/>
          </a:solidFill>
          <a:ln w="12700">
            <a:solidFill>
              <a:srgbClr val="003D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5877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00600" y="286207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Backend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(Supabase / Excel)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29400" y="2971800"/>
            <a:ext cx="274320" cy="0"/>
          </a:xfrm>
          <a:prstGeom prst="line">
            <a:avLst/>
          </a:prstGeom>
          <a:noFill/>
          <a:ln w="19050">
            <a:solidFill>
              <a:srgbClr val="2D374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9440" y="2514600"/>
            <a:ext cx="182880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5877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95160" y="286207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Chassis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0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(repeat 3→7)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160520"/>
            <a:ext cx="8595360" cy="530352"/>
          </a:xfrm>
          <a:prstGeom prst="rect">
            <a:avLst/>
          </a:prstGeom>
          <a:solidFill>
            <a:srgbClr val="F2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16052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Steps 3→7 repeat automatically for every new chassis number uploaded to the backend queue.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Login (Step 1) and navigation (Step 2) happen ONLY ONCE per session.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First Mobital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DMS Vehicle Data Extraction Guide</dc:title>
  <dc:subject>CRM DMS Vehicle Data Extraction Guide</dc:subject>
  <dc:creator>Techwheels Service</dc:creator>
  <cp:lastModifiedBy>Techwheels Service</cp:lastModifiedBy>
  <cp:revision>1</cp:revision>
  <dcterms:created xsi:type="dcterms:W3CDTF">2026-06-16T14:00:47Z</dcterms:created>
  <dcterms:modified xsi:type="dcterms:W3CDTF">2026-06-16T14:00:47Z</dcterms:modified>
</cp:coreProperties>
</file>